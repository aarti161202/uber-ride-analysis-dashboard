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9"/>
  </p:notesMasterIdLst>
  <p:sldIdLst>
    <p:sldId id="256" r:id="rId4"/>
    <p:sldId id="270" r:id="rId5"/>
    <p:sldId id="257" r:id="rId6"/>
    <p:sldId id="258" r:id="rId7"/>
    <p:sldId id="273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1.png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image" Target="../media/image2.png"/><Relationship Id="rId2" Type="http://schemas.openxmlformats.org/officeDocument/2006/relationships/tags" Target="../tags/tag27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973"/>
            <a:ext cx="12172316" cy="6857643"/>
          </a:xfrm>
          <a:prstGeom prst="rect">
            <a:avLst/>
          </a:prstGeom>
        </p:spPr>
      </p:pic>
      <p:sp>
        <p:nvSpPr>
          <p:cNvPr id="11" name="任意多边形: 形状 10"/>
          <p:cNvSpPr/>
          <p:nvPr>
            <p:custDataLst>
              <p:tags r:id="rId4"/>
            </p:custDataLst>
          </p:nvPr>
        </p:nvSpPr>
        <p:spPr>
          <a:xfrm>
            <a:off x="619093" y="549572"/>
            <a:ext cx="228588" cy="228588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2" name="任意多边形: 形状 11"/>
          <p:cNvSpPr/>
          <p:nvPr>
            <p:custDataLst>
              <p:tags r:id="rId5"/>
            </p:custDataLst>
          </p:nvPr>
        </p:nvSpPr>
        <p:spPr>
          <a:xfrm>
            <a:off x="647426" y="596956"/>
            <a:ext cx="171441" cy="19049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2"/>
                  <a:pt x="156633" y="17445"/>
                </a:cubicBezTo>
                <a:cubicBezTo>
                  <a:pt x="156114" y="17097"/>
                  <a:pt x="155633" y="16702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2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4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3" name="任意多边形: 形状 12"/>
          <p:cNvSpPr/>
          <p:nvPr>
            <p:custDataLst>
              <p:tags r:id="rId6"/>
            </p:custDataLst>
          </p:nvPr>
        </p:nvSpPr>
        <p:spPr>
          <a:xfrm>
            <a:off x="647426" y="654102"/>
            <a:ext cx="171441" cy="19049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4" name="任意多边形: 形状 13"/>
          <p:cNvSpPr/>
          <p:nvPr>
            <p:custDataLst>
              <p:tags r:id="rId7"/>
            </p:custDataLst>
          </p:nvPr>
        </p:nvSpPr>
        <p:spPr>
          <a:xfrm>
            <a:off x="647426" y="711249"/>
            <a:ext cx="171441" cy="19049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8" name="任意多边形: 形状 17"/>
          <p:cNvSpPr/>
          <p:nvPr>
            <p:custDataLst>
              <p:tags r:id="rId8"/>
            </p:custDataLst>
          </p:nvPr>
        </p:nvSpPr>
        <p:spPr>
          <a:xfrm rot="16200000">
            <a:off x="11376067" y="549425"/>
            <a:ext cx="228588" cy="228588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9" name="任意多边形: 形状 18"/>
          <p:cNvSpPr/>
          <p:nvPr>
            <p:custDataLst>
              <p:tags r:id="rId9"/>
            </p:custDataLst>
          </p:nvPr>
        </p:nvSpPr>
        <p:spPr>
          <a:xfrm rot="16200000">
            <a:off x="11423690" y="620859"/>
            <a:ext cx="133343" cy="76196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21" name="任意多边形: 形状 20"/>
          <p:cNvSpPr/>
          <p:nvPr>
            <p:custDataLst>
              <p:tags r:id="rId10"/>
            </p:custDataLst>
          </p:nvPr>
        </p:nvSpPr>
        <p:spPr>
          <a:xfrm rot="5400000">
            <a:off x="11147479" y="549425"/>
            <a:ext cx="228588" cy="228588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22" name="任意多边形: 形状 21"/>
          <p:cNvSpPr/>
          <p:nvPr>
            <p:custDataLst>
              <p:tags r:id="rId11"/>
            </p:custDataLst>
          </p:nvPr>
        </p:nvSpPr>
        <p:spPr>
          <a:xfrm rot="5400000">
            <a:off x="11195102" y="630383"/>
            <a:ext cx="133343" cy="76196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2"/>
            </p:custDataLst>
          </p:nvPr>
        </p:nvSpPr>
        <p:spPr>
          <a:xfrm>
            <a:off x="5361026" y="3969992"/>
            <a:ext cx="1468679" cy="41209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2931642" y="3439794"/>
            <a:ext cx="6328080" cy="4292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010737" y="886592"/>
            <a:ext cx="8169253" cy="2531613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0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sym typeface="+mn-ea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08368" y="1490501"/>
            <a:ext cx="10968629" cy="4758952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3"/>
            </p:custDataLst>
          </p:nvPr>
        </p:nvSpPr>
        <p:spPr>
          <a:xfrm>
            <a:off x="608368" y="608547"/>
            <a:ext cx="10968629" cy="70556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0973"/>
            <a:ext cx="12172316" cy="6857643"/>
          </a:xfrm>
          <a:prstGeom prst="rect">
            <a:avLst/>
          </a:prstGeom>
        </p:spPr>
      </p:pic>
      <p:cxnSp>
        <p:nvCxnSpPr>
          <p:cNvPr id="58" name="直接连接符 57"/>
          <p:cNvCxnSpPr/>
          <p:nvPr userDrawn="1">
            <p:custDataLst>
              <p:tags r:id="rId4"/>
            </p:custDataLst>
          </p:nvPr>
        </p:nvCxnSpPr>
        <p:spPr>
          <a:xfrm>
            <a:off x="7646907" y="688483"/>
            <a:ext cx="0" cy="591154"/>
          </a:xfrm>
          <a:prstGeom prst="line">
            <a:avLst/>
          </a:prstGeom>
          <a:ln w="28575" cap="rnd"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tx1">
                    <a:alpha val="5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817713" y="271309"/>
            <a:ext cx="4291106" cy="1259774"/>
          </a:xfrm>
          <a:prstGeom prst="rect">
            <a:avLst/>
          </a:prstGeom>
          <a:noFill/>
        </p:spPr>
        <p:txBody>
          <a:bodyPr wrap="square" lIns="90170" tIns="46990" rIns="90170" bIns="4699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79"/>
            <a:ext cx="12190095" cy="6857643"/>
          </a:xfrm>
          <a:prstGeom prst="rect">
            <a:avLst/>
          </a:prstGeom>
        </p:spPr>
      </p:pic>
      <p:cxnSp>
        <p:nvCxnSpPr>
          <p:cNvPr id="18" name="直接连接符 17"/>
          <p:cNvCxnSpPr/>
          <p:nvPr>
            <p:custDataLst>
              <p:tags r:id="rId4"/>
            </p:custDataLst>
          </p:nvPr>
        </p:nvCxnSpPr>
        <p:spPr>
          <a:xfrm>
            <a:off x="833077" y="2759110"/>
            <a:ext cx="3817421" cy="0"/>
          </a:xfrm>
          <a:prstGeom prst="line">
            <a:avLst/>
          </a:prstGeom>
          <a:ln w="25400" cap="rnd">
            <a:gradFill>
              <a:gsLst>
                <a:gs pos="0">
                  <a:schemeClr val="accent1"/>
                </a:gs>
                <a:gs pos="99000">
                  <a:schemeClr val="tx1">
                    <a:alpha val="0"/>
                  </a:schemeClr>
                </a:gs>
                <a:gs pos="48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747356" y="1339324"/>
            <a:ext cx="4999730" cy="1445185"/>
          </a:xfrm>
          <a:prstGeom prst="rect">
            <a:avLst/>
          </a:prstGeom>
        </p:spPr>
        <p:txBody>
          <a:bodyPr wrap="non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88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747356" y="2825146"/>
            <a:ext cx="6303317" cy="2420494"/>
          </a:xfrm>
          <a:prstGeom prst="rect">
            <a:avLst/>
          </a:prstGeom>
        </p:spPr>
        <p:txBody>
          <a:bodyPr wrap="square" lIns="91440" tIns="45720" rIns="91440" bIns="45720" rtlCol="0" anchor="t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2" name="任意多边形: 形状 11"/>
          <p:cNvSpPr/>
          <p:nvPr userDrawn="1">
            <p:custDataLst>
              <p:tags r:id="rId10"/>
            </p:custDataLst>
          </p:nvPr>
        </p:nvSpPr>
        <p:spPr>
          <a:xfrm>
            <a:off x="619093" y="549572"/>
            <a:ext cx="228588" cy="228588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3" name="任意多边形: 形状 12"/>
          <p:cNvSpPr/>
          <p:nvPr userDrawn="1">
            <p:custDataLst>
              <p:tags r:id="rId11"/>
            </p:custDataLst>
          </p:nvPr>
        </p:nvSpPr>
        <p:spPr>
          <a:xfrm>
            <a:off x="647426" y="596956"/>
            <a:ext cx="171441" cy="19049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2"/>
                  <a:pt x="156633" y="17445"/>
                </a:cubicBezTo>
                <a:cubicBezTo>
                  <a:pt x="156114" y="17097"/>
                  <a:pt x="155633" y="16702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2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4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4" name="任意多边形: 形状 13"/>
          <p:cNvSpPr/>
          <p:nvPr userDrawn="1">
            <p:custDataLst>
              <p:tags r:id="rId12"/>
            </p:custDataLst>
          </p:nvPr>
        </p:nvSpPr>
        <p:spPr>
          <a:xfrm>
            <a:off x="647426" y="654102"/>
            <a:ext cx="171441" cy="19049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5" name="任意多边形: 形状 14"/>
          <p:cNvSpPr/>
          <p:nvPr userDrawn="1">
            <p:custDataLst>
              <p:tags r:id="rId13"/>
            </p:custDataLst>
          </p:nvPr>
        </p:nvSpPr>
        <p:spPr>
          <a:xfrm>
            <a:off x="647426" y="711249"/>
            <a:ext cx="171441" cy="19049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6" name="任意多边形: 形状 15"/>
          <p:cNvSpPr/>
          <p:nvPr userDrawn="1">
            <p:custDataLst>
              <p:tags r:id="rId14"/>
            </p:custDataLst>
          </p:nvPr>
        </p:nvSpPr>
        <p:spPr>
          <a:xfrm rot="16200000">
            <a:off x="11376067" y="549425"/>
            <a:ext cx="228588" cy="228588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7" name="任意多边形: 形状 16"/>
          <p:cNvSpPr/>
          <p:nvPr userDrawn="1">
            <p:custDataLst>
              <p:tags r:id="rId15"/>
            </p:custDataLst>
          </p:nvPr>
        </p:nvSpPr>
        <p:spPr>
          <a:xfrm rot="16200000">
            <a:off x="11423690" y="620859"/>
            <a:ext cx="133343" cy="76196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20" name="任意多边形: 形状 19"/>
          <p:cNvSpPr/>
          <p:nvPr userDrawn="1">
            <p:custDataLst>
              <p:tags r:id="rId16"/>
            </p:custDataLst>
          </p:nvPr>
        </p:nvSpPr>
        <p:spPr>
          <a:xfrm rot="5400000">
            <a:off x="11147479" y="549425"/>
            <a:ext cx="228588" cy="228588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22" name="任意多边形: 形状 21"/>
          <p:cNvSpPr/>
          <p:nvPr userDrawn="1">
            <p:custDataLst>
              <p:tags r:id="rId17"/>
            </p:custDataLst>
          </p:nvPr>
        </p:nvSpPr>
        <p:spPr>
          <a:xfrm rot="5400000">
            <a:off x="11195102" y="630383"/>
            <a:ext cx="133343" cy="76196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6400472" y="1490458"/>
            <a:ext cx="5176530" cy="47589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3"/>
            </p:custDataLst>
          </p:nvPr>
        </p:nvSpPr>
        <p:spPr>
          <a:xfrm>
            <a:off x="608368" y="1490458"/>
            <a:ext cx="5176530" cy="47589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608368" y="608547"/>
            <a:ext cx="10968629" cy="70556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 hasCustomPrompt="1"/>
            <p:custDataLst>
              <p:tags r:id="rId2"/>
            </p:custDataLst>
          </p:nvPr>
        </p:nvSpPr>
        <p:spPr>
          <a:xfrm>
            <a:off x="6234875" y="1854082"/>
            <a:ext cx="5342122" cy="4395371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6234875" y="1429304"/>
            <a:ext cx="5342122" cy="398759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4"/>
            </p:custDataLst>
          </p:nvPr>
        </p:nvSpPr>
        <p:spPr>
          <a:xfrm>
            <a:off x="608368" y="1854082"/>
            <a:ext cx="5342122" cy="4395371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08368" y="1429304"/>
            <a:ext cx="5342122" cy="398759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608368" y="608547"/>
            <a:ext cx="10968629" cy="70556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08368" y="608547"/>
            <a:ext cx="10968629" cy="70556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205"/>
            <a:ext cx="10801422" cy="581756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695924" y="1301861"/>
            <a:ext cx="10798526" cy="405532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3"/>
            </p:custDataLst>
          </p:nvPr>
        </p:nvSpPr>
        <p:spPr>
          <a:xfrm>
            <a:off x="608368" y="608547"/>
            <a:ext cx="10968629" cy="70556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79"/>
            <a:ext cx="12172316" cy="6857643"/>
          </a:xfrm>
          <a:prstGeom prst="rect">
            <a:avLst/>
          </a:prstGeom>
        </p:spPr>
      </p:pic>
      <p:cxnSp>
        <p:nvCxnSpPr>
          <p:cNvPr id="45" name="直接连接符 44"/>
          <p:cNvCxnSpPr/>
          <p:nvPr>
            <p:custDataLst>
              <p:tags r:id="rId4"/>
            </p:custDataLst>
          </p:nvPr>
        </p:nvCxnSpPr>
        <p:spPr>
          <a:xfrm>
            <a:off x="3612326" y="3646794"/>
            <a:ext cx="4966711" cy="0"/>
          </a:xfrm>
          <a:prstGeom prst="line">
            <a:avLst/>
          </a:prstGeom>
          <a:ln w="25400" cap="rnd">
            <a:gradFill>
              <a:gsLst>
                <a:gs pos="40000">
                  <a:schemeClr val="accent1"/>
                </a:gs>
                <a:gs pos="100000">
                  <a:schemeClr val="tx1">
                    <a:alpha val="0"/>
                  </a:schemeClr>
                </a:gs>
                <a:gs pos="0">
                  <a:schemeClr val="tx1">
                    <a:alpha val="0"/>
                  </a:schemeClr>
                </a:gs>
                <a:gs pos="64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5358486" y="4029044"/>
            <a:ext cx="1427406" cy="36764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3324052" y="1586961"/>
            <a:ext cx="5519767" cy="2005861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1968" y="6314250"/>
            <a:ext cx="2699859" cy="31678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786" y="6314250"/>
            <a:ext cx="3959794" cy="316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138" y="6314250"/>
            <a:ext cx="2699859" cy="316784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3" name="任意多边形: 形状 12"/>
          <p:cNvSpPr/>
          <p:nvPr userDrawn="1">
            <p:custDataLst>
              <p:tags r:id="rId10"/>
            </p:custDataLst>
          </p:nvPr>
        </p:nvSpPr>
        <p:spPr>
          <a:xfrm>
            <a:off x="619093" y="549572"/>
            <a:ext cx="228588" cy="228588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4" name="任意多边形: 形状 13"/>
          <p:cNvSpPr/>
          <p:nvPr userDrawn="1">
            <p:custDataLst>
              <p:tags r:id="rId11"/>
            </p:custDataLst>
          </p:nvPr>
        </p:nvSpPr>
        <p:spPr>
          <a:xfrm>
            <a:off x="647426" y="596956"/>
            <a:ext cx="171441" cy="19049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2"/>
                  <a:pt x="156633" y="17445"/>
                </a:cubicBezTo>
                <a:cubicBezTo>
                  <a:pt x="156114" y="17097"/>
                  <a:pt x="155633" y="16702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2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4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5" name="任意多边形: 形状 14"/>
          <p:cNvSpPr/>
          <p:nvPr userDrawn="1">
            <p:custDataLst>
              <p:tags r:id="rId12"/>
            </p:custDataLst>
          </p:nvPr>
        </p:nvSpPr>
        <p:spPr>
          <a:xfrm>
            <a:off x="647426" y="654102"/>
            <a:ext cx="171441" cy="19049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6" name="任意多边形: 形状 15"/>
          <p:cNvSpPr/>
          <p:nvPr userDrawn="1">
            <p:custDataLst>
              <p:tags r:id="rId13"/>
            </p:custDataLst>
          </p:nvPr>
        </p:nvSpPr>
        <p:spPr>
          <a:xfrm>
            <a:off x="647426" y="711249"/>
            <a:ext cx="171441" cy="19049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7" name="任意多边形: 形状 16"/>
          <p:cNvSpPr/>
          <p:nvPr userDrawn="1">
            <p:custDataLst>
              <p:tags r:id="rId14"/>
            </p:custDataLst>
          </p:nvPr>
        </p:nvSpPr>
        <p:spPr>
          <a:xfrm rot="16200000">
            <a:off x="11376067" y="549425"/>
            <a:ext cx="228588" cy="228588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8" name="任意多边形: 形状 17"/>
          <p:cNvSpPr/>
          <p:nvPr userDrawn="1">
            <p:custDataLst>
              <p:tags r:id="rId15"/>
            </p:custDataLst>
          </p:nvPr>
        </p:nvSpPr>
        <p:spPr>
          <a:xfrm rot="16200000">
            <a:off x="11423690" y="620859"/>
            <a:ext cx="133343" cy="76196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19" name="任意多边形: 形状 18"/>
          <p:cNvSpPr/>
          <p:nvPr userDrawn="1">
            <p:custDataLst>
              <p:tags r:id="rId16"/>
            </p:custDataLst>
          </p:nvPr>
        </p:nvSpPr>
        <p:spPr>
          <a:xfrm rot="5400000">
            <a:off x="11147479" y="549425"/>
            <a:ext cx="228588" cy="228588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  <p:sp>
        <p:nvSpPr>
          <p:cNvPr id="20" name="任意多边形: 形状 19"/>
          <p:cNvSpPr/>
          <p:nvPr userDrawn="1">
            <p:custDataLst>
              <p:tags r:id="rId17"/>
            </p:custDataLst>
          </p:nvPr>
        </p:nvSpPr>
        <p:spPr>
          <a:xfrm rot="5400000">
            <a:off x="11195102" y="630383"/>
            <a:ext cx="133343" cy="76196"/>
          </a:xfrm>
          <a:custGeom>
            <a:avLst/>
            <a:gdLst>
              <a:gd name="connsiteX0" fmla="*/ 16260 w 133350"/>
              <a:gd name="connsiteY0" fmla="*/ 2790 h 76200"/>
              <a:gd name="connsiteX1" fmla="*/ 73410 w 133350"/>
              <a:gd name="connsiteY1" fmla="*/ 59940 h 76200"/>
              <a:gd name="connsiteX2" fmla="*/ 66675 w 133350"/>
              <a:gd name="connsiteY2" fmla="*/ 66675 h 76200"/>
              <a:gd name="connsiteX3" fmla="*/ 59940 w 133350"/>
              <a:gd name="connsiteY3" fmla="*/ 59940 h 76200"/>
              <a:gd name="connsiteX4" fmla="*/ 117090 w 133350"/>
              <a:gd name="connsiteY4" fmla="*/ 2790 h 76200"/>
              <a:gd name="connsiteX5" fmla="*/ 118533 w 133350"/>
              <a:gd name="connsiteY5" fmla="*/ 1605 h 76200"/>
              <a:gd name="connsiteX6" fmla="*/ 120180 w 133350"/>
              <a:gd name="connsiteY6" fmla="*/ 725 h 76200"/>
              <a:gd name="connsiteX7" fmla="*/ 121967 w 133350"/>
              <a:gd name="connsiteY7" fmla="*/ 183 h 76200"/>
              <a:gd name="connsiteX8" fmla="*/ 123825 w 133350"/>
              <a:gd name="connsiteY8" fmla="*/ 0 h 76200"/>
              <a:gd name="connsiteX9" fmla="*/ 125683 w 133350"/>
              <a:gd name="connsiteY9" fmla="*/ 183 h 76200"/>
              <a:gd name="connsiteX10" fmla="*/ 127470 w 133350"/>
              <a:gd name="connsiteY10" fmla="*/ 725 h 76200"/>
              <a:gd name="connsiteX11" fmla="*/ 129117 w 133350"/>
              <a:gd name="connsiteY11" fmla="*/ 1605 h 76200"/>
              <a:gd name="connsiteX12" fmla="*/ 130560 w 133350"/>
              <a:gd name="connsiteY12" fmla="*/ 2790 h 76200"/>
              <a:gd name="connsiteX13" fmla="*/ 131745 w 133350"/>
              <a:gd name="connsiteY13" fmla="*/ 4233 h 76200"/>
              <a:gd name="connsiteX14" fmla="*/ 132625 w 133350"/>
              <a:gd name="connsiteY14" fmla="*/ 5880 h 76200"/>
              <a:gd name="connsiteX15" fmla="*/ 133167 w 133350"/>
              <a:gd name="connsiteY15" fmla="*/ 7667 h 76200"/>
              <a:gd name="connsiteX16" fmla="*/ 133350 w 133350"/>
              <a:gd name="connsiteY16" fmla="*/ 9525 h 76200"/>
              <a:gd name="connsiteX17" fmla="*/ 133167 w 133350"/>
              <a:gd name="connsiteY17" fmla="*/ 11383 h 76200"/>
              <a:gd name="connsiteX18" fmla="*/ 132625 w 133350"/>
              <a:gd name="connsiteY18" fmla="*/ 13170 h 76200"/>
              <a:gd name="connsiteX19" fmla="*/ 131745 w 133350"/>
              <a:gd name="connsiteY19" fmla="*/ 14817 h 76200"/>
              <a:gd name="connsiteX20" fmla="*/ 130560 w 133350"/>
              <a:gd name="connsiteY20" fmla="*/ 16260 h 76200"/>
              <a:gd name="connsiteX21" fmla="*/ 73410 w 133350"/>
              <a:gd name="connsiteY21" fmla="*/ 73410 h 76200"/>
              <a:gd name="connsiteX22" fmla="*/ 71967 w 133350"/>
              <a:gd name="connsiteY22" fmla="*/ 74595 h 76200"/>
              <a:gd name="connsiteX23" fmla="*/ 70320 w 133350"/>
              <a:gd name="connsiteY23" fmla="*/ 75475 h 76200"/>
              <a:gd name="connsiteX24" fmla="*/ 68533 w 133350"/>
              <a:gd name="connsiteY24" fmla="*/ 76017 h 76200"/>
              <a:gd name="connsiteX25" fmla="*/ 66675 w 133350"/>
              <a:gd name="connsiteY25" fmla="*/ 76200 h 76200"/>
              <a:gd name="connsiteX26" fmla="*/ 64817 w 133350"/>
              <a:gd name="connsiteY26" fmla="*/ 76017 h 76200"/>
              <a:gd name="connsiteX27" fmla="*/ 63030 w 133350"/>
              <a:gd name="connsiteY27" fmla="*/ 75475 h 76200"/>
              <a:gd name="connsiteX28" fmla="*/ 61383 w 133350"/>
              <a:gd name="connsiteY28" fmla="*/ 74595 h 76200"/>
              <a:gd name="connsiteX29" fmla="*/ 59940 w 133350"/>
              <a:gd name="connsiteY29" fmla="*/ 73410 h 76200"/>
              <a:gd name="connsiteX30" fmla="*/ 2790 w 133350"/>
              <a:gd name="connsiteY30" fmla="*/ 16260 h 76200"/>
              <a:gd name="connsiteX31" fmla="*/ 1605 w 133350"/>
              <a:gd name="connsiteY31" fmla="*/ 14817 h 76200"/>
              <a:gd name="connsiteX32" fmla="*/ 725 w 133350"/>
              <a:gd name="connsiteY32" fmla="*/ 13170 h 76200"/>
              <a:gd name="connsiteX33" fmla="*/ 183 w 133350"/>
              <a:gd name="connsiteY33" fmla="*/ 11383 h 76200"/>
              <a:gd name="connsiteX34" fmla="*/ 0 w 133350"/>
              <a:gd name="connsiteY34" fmla="*/ 9525 h 76200"/>
              <a:gd name="connsiteX35" fmla="*/ 183 w 133350"/>
              <a:gd name="connsiteY35" fmla="*/ 7667 h 76200"/>
              <a:gd name="connsiteX36" fmla="*/ 725 w 133350"/>
              <a:gd name="connsiteY36" fmla="*/ 5880 h 76200"/>
              <a:gd name="connsiteX37" fmla="*/ 1605 w 133350"/>
              <a:gd name="connsiteY37" fmla="*/ 4233 h 76200"/>
              <a:gd name="connsiteX38" fmla="*/ 2790 w 133350"/>
              <a:gd name="connsiteY38" fmla="*/ 2790 h 76200"/>
              <a:gd name="connsiteX39" fmla="*/ 4233 w 133350"/>
              <a:gd name="connsiteY39" fmla="*/ 1605 h 76200"/>
              <a:gd name="connsiteX40" fmla="*/ 5880 w 133350"/>
              <a:gd name="connsiteY40" fmla="*/ 725 h 76200"/>
              <a:gd name="connsiteX41" fmla="*/ 7667 w 133350"/>
              <a:gd name="connsiteY41" fmla="*/ 183 h 76200"/>
              <a:gd name="connsiteX42" fmla="*/ 9525 w 133350"/>
              <a:gd name="connsiteY42" fmla="*/ 0 h 76200"/>
              <a:gd name="connsiteX43" fmla="*/ 11383 w 133350"/>
              <a:gd name="connsiteY43" fmla="*/ 183 h 76200"/>
              <a:gd name="connsiteX44" fmla="*/ 13170 w 133350"/>
              <a:gd name="connsiteY44" fmla="*/ 725 h 76200"/>
              <a:gd name="connsiteX45" fmla="*/ 14817 w 133350"/>
              <a:gd name="connsiteY45" fmla="*/ 1605 h 76200"/>
              <a:gd name="connsiteX46" fmla="*/ 16260 w 133350"/>
              <a:gd name="connsiteY46" fmla="*/ 2790 h 76200"/>
              <a:gd name="connsiteX47" fmla="*/ 19050 w 133350"/>
              <a:gd name="connsiteY47" fmla="*/ 9525 h 76200"/>
              <a:gd name="connsiteX48" fmla="*/ 18867 w 133350"/>
              <a:gd name="connsiteY48" fmla="*/ 11383 h 76200"/>
              <a:gd name="connsiteX49" fmla="*/ 18325 w 133350"/>
              <a:gd name="connsiteY49" fmla="*/ 13170 h 76200"/>
              <a:gd name="connsiteX50" fmla="*/ 17445 w 133350"/>
              <a:gd name="connsiteY50" fmla="*/ 14817 h 76200"/>
              <a:gd name="connsiteX51" fmla="*/ 16260 w 133350"/>
              <a:gd name="connsiteY51" fmla="*/ 16260 h 76200"/>
              <a:gd name="connsiteX52" fmla="*/ 14817 w 133350"/>
              <a:gd name="connsiteY52" fmla="*/ 17445 h 76200"/>
              <a:gd name="connsiteX53" fmla="*/ 13170 w 133350"/>
              <a:gd name="connsiteY53" fmla="*/ 18325 h 76200"/>
              <a:gd name="connsiteX54" fmla="*/ 11383 w 133350"/>
              <a:gd name="connsiteY54" fmla="*/ 18867 h 76200"/>
              <a:gd name="connsiteX55" fmla="*/ 9525 w 133350"/>
              <a:gd name="connsiteY55" fmla="*/ 19050 h 76200"/>
              <a:gd name="connsiteX56" fmla="*/ 7667 w 133350"/>
              <a:gd name="connsiteY56" fmla="*/ 18867 h 76200"/>
              <a:gd name="connsiteX57" fmla="*/ 5880 w 133350"/>
              <a:gd name="connsiteY57" fmla="*/ 18325 h 76200"/>
              <a:gd name="connsiteX58" fmla="*/ 4233 w 133350"/>
              <a:gd name="connsiteY58" fmla="*/ 17445 h 76200"/>
              <a:gd name="connsiteX59" fmla="*/ 2790 w 133350"/>
              <a:gd name="connsiteY59" fmla="*/ 16260 h 76200"/>
              <a:gd name="connsiteX60" fmla="*/ 1605 w 133350"/>
              <a:gd name="connsiteY60" fmla="*/ 14817 h 76200"/>
              <a:gd name="connsiteX61" fmla="*/ 725 w 133350"/>
              <a:gd name="connsiteY61" fmla="*/ 13170 h 76200"/>
              <a:gd name="connsiteX62" fmla="*/ 183 w 133350"/>
              <a:gd name="connsiteY62" fmla="*/ 11383 h 76200"/>
              <a:gd name="connsiteX63" fmla="*/ 0 w 133350"/>
              <a:gd name="connsiteY63" fmla="*/ 9525 h 76200"/>
              <a:gd name="connsiteX64" fmla="*/ 183 w 133350"/>
              <a:gd name="connsiteY64" fmla="*/ 7667 h 76200"/>
              <a:gd name="connsiteX65" fmla="*/ 725 w 133350"/>
              <a:gd name="connsiteY65" fmla="*/ 5880 h 76200"/>
              <a:gd name="connsiteX66" fmla="*/ 1605 w 133350"/>
              <a:gd name="connsiteY66" fmla="*/ 4233 h 76200"/>
              <a:gd name="connsiteX67" fmla="*/ 2790 w 133350"/>
              <a:gd name="connsiteY67" fmla="*/ 2790 h 76200"/>
              <a:gd name="connsiteX68" fmla="*/ 4233 w 133350"/>
              <a:gd name="connsiteY68" fmla="*/ 1605 h 76200"/>
              <a:gd name="connsiteX69" fmla="*/ 5880 w 133350"/>
              <a:gd name="connsiteY69" fmla="*/ 725 h 76200"/>
              <a:gd name="connsiteX70" fmla="*/ 7667 w 133350"/>
              <a:gd name="connsiteY70" fmla="*/ 183 h 76200"/>
              <a:gd name="connsiteX71" fmla="*/ 9525 w 133350"/>
              <a:gd name="connsiteY71" fmla="*/ 0 h 76200"/>
              <a:gd name="connsiteX72" fmla="*/ 11383 w 133350"/>
              <a:gd name="connsiteY72" fmla="*/ 183 h 76200"/>
              <a:gd name="connsiteX73" fmla="*/ 13170 w 133350"/>
              <a:gd name="connsiteY73" fmla="*/ 725 h 76200"/>
              <a:gd name="connsiteX74" fmla="*/ 14817 w 133350"/>
              <a:gd name="connsiteY74" fmla="*/ 1605 h 76200"/>
              <a:gd name="connsiteX75" fmla="*/ 16260 w 133350"/>
              <a:gd name="connsiteY75" fmla="*/ 2790 h 76200"/>
              <a:gd name="connsiteX76" fmla="*/ 17445 w 133350"/>
              <a:gd name="connsiteY76" fmla="*/ 4233 h 76200"/>
              <a:gd name="connsiteX77" fmla="*/ 18325 w 133350"/>
              <a:gd name="connsiteY77" fmla="*/ 5880 h 76200"/>
              <a:gd name="connsiteX78" fmla="*/ 18867 w 133350"/>
              <a:gd name="connsiteY78" fmla="*/ 7667 h 76200"/>
              <a:gd name="connsiteX79" fmla="*/ 19050 w 133350"/>
              <a:gd name="connsiteY79" fmla="*/ 9525 h 76200"/>
              <a:gd name="connsiteX80" fmla="*/ 133350 w 133350"/>
              <a:gd name="connsiteY80" fmla="*/ 9525 h 76200"/>
              <a:gd name="connsiteX81" fmla="*/ 133167 w 133350"/>
              <a:gd name="connsiteY81" fmla="*/ 11383 h 76200"/>
              <a:gd name="connsiteX82" fmla="*/ 132625 w 133350"/>
              <a:gd name="connsiteY82" fmla="*/ 13170 h 76200"/>
              <a:gd name="connsiteX83" fmla="*/ 131745 w 133350"/>
              <a:gd name="connsiteY83" fmla="*/ 14817 h 76200"/>
              <a:gd name="connsiteX84" fmla="*/ 130560 w 133350"/>
              <a:gd name="connsiteY84" fmla="*/ 16260 h 76200"/>
              <a:gd name="connsiteX85" fmla="*/ 129117 w 133350"/>
              <a:gd name="connsiteY85" fmla="*/ 17445 h 76200"/>
              <a:gd name="connsiteX86" fmla="*/ 127470 w 133350"/>
              <a:gd name="connsiteY86" fmla="*/ 18325 h 76200"/>
              <a:gd name="connsiteX87" fmla="*/ 125683 w 133350"/>
              <a:gd name="connsiteY87" fmla="*/ 18867 h 76200"/>
              <a:gd name="connsiteX88" fmla="*/ 123825 w 133350"/>
              <a:gd name="connsiteY88" fmla="*/ 19050 h 76200"/>
              <a:gd name="connsiteX89" fmla="*/ 121967 w 133350"/>
              <a:gd name="connsiteY89" fmla="*/ 18867 h 76200"/>
              <a:gd name="connsiteX90" fmla="*/ 120180 w 133350"/>
              <a:gd name="connsiteY90" fmla="*/ 18325 h 76200"/>
              <a:gd name="connsiteX91" fmla="*/ 118533 w 133350"/>
              <a:gd name="connsiteY91" fmla="*/ 17445 h 76200"/>
              <a:gd name="connsiteX92" fmla="*/ 117090 w 133350"/>
              <a:gd name="connsiteY92" fmla="*/ 16260 h 76200"/>
              <a:gd name="connsiteX93" fmla="*/ 115905 w 133350"/>
              <a:gd name="connsiteY93" fmla="*/ 14817 h 76200"/>
              <a:gd name="connsiteX94" fmla="*/ 115025 w 133350"/>
              <a:gd name="connsiteY94" fmla="*/ 13170 h 76200"/>
              <a:gd name="connsiteX95" fmla="*/ 114483 w 133350"/>
              <a:gd name="connsiteY95" fmla="*/ 11383 h 76200"/>
              <a:gd name="connsiteX96" fmla="*/ 114300 w 133350"/>
              <a:gd name="connsiteY96" fmla="*/ 9525 h 76200"/>
              <a:gd name="connsiteX97" fmla="*/ 114483 w 133350"/>
              <a:gd name="connsiteY97" fmla="*/ 7667 h 76200"/>
              <a:gd name="connsiteX98" fmla="*/ 115025 w 133350"/>
              <a:gd name="connsiteY98" fmla="*/ 5880 h 76200"/>
              <a:gd name="connsiteX99" fmla="*/ 115905 w 133350"/>
              <a:gd name="connsiteY99" fmla="*/ 4233 h 76200"/>
              <a:gd name="connsiteX100" fmla="*/ 117090 w 133350"/>
              <a:gd name="connsiteY100" fmla="*/ 2790 h 76200"/>
              <a:gd name="connsiteX101" fmla="*/ 118533 w 133350"/>
              <a:gd name="connsiteY101" fmla="*/ 1605 h 76200"/>
              <a:gd name="connsiteX102" fmla="*/ 120180 w 133350"/>
              <a:gd name="connsiteY102" fmla="*/ 725 h 76200"/>
              <a:gd name="connsiteX103" fmla="*/ 121967 w 133350"/>
              <a:gd name="connsiteY103" fmla="*/ 183 h 76200"/>
              <a:gd name="connsiteX104" fmla="*/ 123825 w 133350"/>
              <a:gd name="connsiteY104" fmla="*/ 0 h 76200"/>
              <a:gd name="connsiteX105" fmla="*/ 125683 w 133350"/>
              <a:gd name="connsiteY105" fmla="*/ 183 h 76200"/>
              <a:gd name="connsiteX106" fmla="*/ 127470 w 133350"/>
              <a:gd name="connsiteY106" fmla="*/ 725 h 76200"/>
              <a:gd name="connsiteX107" fmla="*/ 129117 w 133350"/>
              <a:gd name="connsiteY107" fmla="*/ 1605 h 76200"/>
              <a:gd name="connsiteX108" fmla="*/ 130560 w 133350"/>
              <a:gd name="connsiteY108" fmla="*/ 2790 h 76200"/>
              <a:gd name="connsiteX109" fmla="*/ 131745 w 133350"/>
              <a:gd name="connsiteY109" fmla="*/ 4233 h 76200"/>
              <a:gd name="connsiteX110" fmla="*/ 132625 w 133350"/>
              <a:gd name="connsiteY110" fmla="*/ 5880 h 76200"/>
              <a:gd name="connsiteX111" fmla="*/ 133167 w 133350"/>
              <a:gd name="connsiteY111" fmla="*/ 7667 h 76200"/>
              <a:gd name="connsiteX112" fmla="*/ 133350 w 133350"/>
              <a:gd name="connsiteY112" fmla="*/ 9525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33350" h="76200">
                <a:moveTo>
                  <a:pt x="16260" y="2790"/>
                </a:moveTo>
                <a:lnTo>
                  <a:pt x="73410" y="59940"/>
                </a:lnTo>
                <a:lnTo>
                  <a:pt x="66675" y="66675"/>
                </a:lnTo>
                <a:lnTo>
                  <a:pt x="59940" y="59940"/>
                </a:lnTo>
                <a:lnTo>
                  <a:pt x="117090" y="2790"/>
                </a:ln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lnTo>
                  <a:pt x="73410" y="73410"/>
                </a:lnTo>
                <a:cubicBezTo>
                  <a:pt x="72968" y="73852"/>
                  <a:pt x="72487" y="74247"/>
                  <a:pt x="71967" y="74595"/>
                </a:cubicBezTo>
                <a:cubicBezTo>
                  <a:pt x="71447" y="74942"/>
                  <a:pt x="70897" y="75236"/>
                  <a:pt x="70320" y="75475"/>
                </a:cubicBezTo>
                <a:cubicBezTo>
                  <a:pt x="69742" y="75714"/>
                  <a:pt x="69147" y="75895"/>
                  <a:pt x="68533" y="76017"/>
                </a:cubicBezTo>
                <a:cubicBezTo>
                  <a:pt x="67920" y="76139"/>
                  <a:pt x="67301" y="76200"/>
                  <a:pt x="66675" y="76200"/>
                </a:cubicBezTo>
                <a:cubicBezTo>
                  <a:pt x="66049" y="76200"/>
                  <a:pt x="65430" y="76139"/>
                  <a:pt x="64817" y="76017"/>
                </a:cubicBezTo>
                <a:cubicBezTo>
                  <a:pt x="64203" y="75895"/>
                  <a:pt x="63608" y="75714"/>
                  <a:pt x="63030" y="75475"/>
                </a:cubicBezTo>
                <a:cubicBezTo>
                  <a:pt x="62453" y="75236"/>
                  <a:pt x="61903" y="74943"/>
                  <a:pt x="61383" y="74595"/>
                </a:cubicBezTo>
                <a:cubicBezTo>
                  <a:pt x="60863" y="74247"/>
                  <a:pt x="60382" y="73852"/>
                  <a:pt x="59940" y="73410"/>
                </a:cubicBezTo>
                <a:lnTo>
                  <a:pt x="2790" y="16260"/>
                </a:ln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lose/>
                <a:moveTo>
                  <a:pt x="19050" y="9525"/>
                </a:moveTo>
                <a:cubicBezTo>
                  <a:pt x="19050" y="10150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0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  <a:moveTo>
                  <a:pt x="133350" y="9525"/>
                </a:moveTo>
                <a:cubicBezTo>
                  <a:pt x="133350" y="10150"/>
                  <a:pt x="133289" y="10770"/>
                  <a:pt x="133167" y="11383"/>
                </a:cubicBezTo>
                <a:cubicBezTo>
                  <a:pt x="133045" y="11997"/>
                  <a:pt x="132864" y="12592"/>
                  <a:pt x="132625" y="13170"/>
                </a:cubicBezTo>
                <a:cubicBezTo>
                  <a:pt x="132386" y="13748"/>
                  <a:pt x="132093" y="14297"/>
                  <a:pt x="131745" y="14817"/>
                </a:cubicBezTo>
                <a:cubicBezTo>
                  <a:pt x="131397" y="15337"/>
                  <a:pt x="131002" y="15818"/>
                  <a:pt x="130560" y="16260"/>
                </a:cubicBezTo>
                <a:cubicBezTo>
                  <a:pt x="130118" y="16702"/>
                  <a:pt x="129637" y="17097"/>
                  <a:pt x="129117" y="17445"/>
                </a:cubicBezTo>
                <a:cubicBezTo>
                  <a:pt x="128597" y="17792"/>
                  <a:pt x="128048" y="18086"/>
                  <a:pt x="127470" y="18325"/>
                </a:cubicBezTo>
                <a:cubicBezTo>
                  <a:pt x="126892" y="18564"/>
                  <a:pt x="126297" y="18745"/>
                  <a:pt x="125683" y="18867"/>
                </a:cubicBezTo>
                <a:cubicBezTo>
                  <a:pt x="125070" y="18989"/>
                  <a:pt x="124451" y="19050"/>
                  <a:pt x="123825" y="19050"/>
                </a:cubicBezTo>
                <a:cubicBezTo>
                  <a:pt x="123199" y="19050"/>
                  <a:pt x="122580" y="18989"/>
                  <a:pt x="121967" y="18867"/>
                </a:cubicBezTo>
                <a:cubicBezTo>
                  <a:pt x="121353" y="18745"/>
                  <a:pt x="120758" y="18564"/>
                  <a:pt x="120180" y="18325"/>
                </a:cubicBezTo>
                <a:cubicBezTo>
                  <a:pt x="119602" y="18086"/>
                  <a:pt x="119053" y="17792"/>
                  <a:pt x="118533" y="17445"/>
                </a:cubicBezTo>
                <a:cubicBezTo>
                  <a:pt x="118013" y="17097"/>
                  <a:pt x="117532" y="16702"/>
                  <a:pt x="117090" y="16260"/>
                </a:cubicBezTo>
                <a:cubicBezTo>
                  <a:pt x="116647" y="15818"/>
                  <a:pt x="116253" y="15337"/>
                  <a:pt x="115905" y="14817"/>
                </a:cubicBezTo>
                <a:cubicBezTo>
                  <a:pt x="115557" y="14297"/>
                  <a:pt x="115264" y="13748"/>
                  <a:pt x="115025" y="13170"/>
                </a:cubicBezTo>
                <a:cubicBezTo>
                  <a:pt x="114786" y="12592"/>
                  <a:pt x="114605" y="11997"/>
                  <a:pt x="114483" y="11383"/>
                </a:cubicBezTo>
                <a:cubicBezTo>
                  <a:pt x="114361" y="10770"/>
                  <a:pt x="114300" y="10150"/>
                  <a:pt x="114300" y="9525"/>
                </a:cubicBezTo>
                <a:cubicBezTo>
                  <a:pt x="114300" y="8900"/>
                  <a:pt x="114361" y="8280"/>
                  <a:pt x="114483" y="7667"/>
                </a:cubicBezTo>
                <a:cubicBezTo>
                  <a:pt x="114605" y="7053"/>
                  <a:pt x="114786" y="6458"/>
                  <a:pt x="115025" y="5880"/>
                </a:cubicBezTo>
                <a:cubicBezTo>
                  <a:pt x="115264" y="5302"/>
                  <a:pt x="115557" y="4753"/>
                  <a:pt x="115905" y="4233"/>
                </a:cubicBezTo>
                <a:cubicBezTo>
                  <a:pt x="116253" y="3713"/>
                  <a:pt x="116647" y="3232"/>
                  <a:pt x="117090" y="2790"/>
                </a:cubicBezTo>
                <a:cubicBezTo>
                  <a:pt x="117532" y="2348"/>
                  <a:pt x="118013" y="1953"/>
                  <a:pt x="118533" y="1605"/>
                </a:cubicBezTo>
                <a:cubicBezTo>
                  <a:pt x="119053" y="1258"/>
                  <a:pt x="119602" y="964"/>
                  <a:pt x="120180" y="725"/>
                </a:cubicBezTo>
                <a:cubicBezTo>
                  <a:pt x="120758" y="486"/>
                  <a:pt x="121353" y="305"/>
                  <a:pt x="121967" y="183"/>
                </a:cubicBezTo>
                <a:cubicBezTo>
                  <a:pt x="122580" y="61"/>
                  <a:pt x="123199" y="0"/>
                  <a:pt x="123825" y="0"/>
                </a:cubicBezTo>
                <a:cubicBezTo>
                  <a:pt x="124451" y="0"/>
                  <a:pt x="125070" y="61"/>
                  <a:pt x="125683" y="183"/>
                </a:cubicBezTo>
                <a:cubicBezTo>
                  <a:pt x="126297" y="305"/>
                  <a:pt x="126892" y="486"/>
                  <a:pt x="127470" y="725"/>
                </a:cubicBezTo>
                <a:cubicBezTo>
                  <a:pt x="128048" y="964"/>
                  <a:pt x="128597" y="1258"/>
                  <a:pt x="129117" y="1605"/>
                </a:cubicBezTo>
                <a:cubicBezTo>
                  <a:pt x="129637" y="1953"/>
                  <a:pt x="130118" y="2348"/>
                  <a:pt x="130560" y="2790"/>
                </a:cubicBezTo>
                <a:cubicBezTo>
                  <a:pt x="131002" y="3232"/>
                  <a:pt x="131397" y="3713"/>
                  <a:pt x="131745" y="4233"/>
                </a:cubicBezTo>
                <a:cubicBezTo>
                  <a:pt x="132093" y="4753"/>
                  <a:pt x="132386" y="5302"/>
                  <a:pt x="132625" y="5880"/>
                </a:cubicBezTo>
                <a:cubicBezTo>
                  <a:pt x="132864" y="6458"/>
                  <a:pt x="133045" y="7053"/>
                  <a:pt x="133167" y="7667"/>
                </a:cubicBezTo>
                <a:cubicBezTo>
                  <a:pt x="133289" y="8280"/>
                  <a:pt x="133350" y="8900"/>
                  <a:pt x="1333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24" y="6356198"/>
            <a:ext cx="2743057" cy="365106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527" y="6356198"/>
            <a:ext cx="2743057" cy="365106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24" y="1301860"/>
            <a:ext cx="10799438" cy="4873371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24" y="360160"/>
            <a:ext cx="10799438" cy="71996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/>
          </a:p>
        </p:txBody>
      </p:sp>
    </p:spTree>
    <p:custDataLst>
      <p:tags r:id="rId18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uFillTx/>
          <a:latin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tags" Target="../tags/tag1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20.xml"/><Relationship Id="rId6" Type="http://schemas.openxmlformats.org/officeDocument/2006/relationships/image" Target="../media/image4.png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5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931795" y="1259840"/>
            <a:ext cx="6327775" cy="11766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>
            <a:noAutofit/>
          </a:bodyPr>
          <a:p>
            <a:r>
              <a:rPr lang="en-US" sz="4000">
                <a:latin typeface="Imprint MT Shadow" panose="04020605060303030202" charset="0"/>
                <a:ea typeface="+mn-ea"/>
                <a:cs typeface="Imprint MT Shadow" panose="04020605060303030202" charset="0"/>
              </a:rPr>
              <a:t>Uber Ride Analysis Dashboard</a:t>
            </a:r>
            <a:endParaRPr lang="en-US" sz="4000">
              <a:latin typeface="Imprint MT Shadow" panose="04020605060303030202" charset="0"/>
              <a:ea typeface="+mn-ea"/>
              <a:cs typeface="Imprint MT Shadow" panose="04020605060303030202" charset="0"/>
            </a:endParaRPr>
          </a:p>
        </p:txBody>
      </p:sp>
      <p:sp>
        <p:nvSpPr>
          <p:cNvPr id="13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2010737" y="886592"/>
            <a:ext cx="8169253" cy="2531613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2800">
                <a:uFillTx/>
                <a:latin typeface="Calibri" panose="020F0502020204030204" charset="0"/>
                <a:ea typeface="+mj-ea"/>
                <a:cs typeface="Calibri" panose="020F0502020204030204" charset="0"/>
              </a:rPr>
              <a:t>By Aarti Dhage</a:t>
            </a:r>
            <a:endParaRPr lang="en-US" sz="2800">
              <a:uFillTx/>
              <a:latin typeface="Calibri" panose="020F0502020204030204" charset="0"/>
              <a:ea typeface="+mj-ea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Content Placeholder 9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dashboard helps us understand Uber ride performance.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It shows bookings, completed rides, cancellations, vehicle demand, payments and customer ratings.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goal is to find problems and suggest improvements.</a:t>
            </a:r>
            <a:endParaRPr lang="en-US" sz="1800">
              <a:solidFill>
                <a:schemeClr val="tx1"/>
              </a:solidFill>
              <a:uFillTx/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822960" y="1828800"/>
            <a:ext cx="10515600" cy="17430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</a:defRPr>
            </a:pPr>
            <a:endParaRPr sz="2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1183620" y="6492240"/>
            <a:ext cx="246380" cy="22987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" name="Title 2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UBER RIDE ANALYSIS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How many bookings did Uber receive?</a:t>
            </a:r>
            <a:endParaRPr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How many rides were completed?</a:t>
            </a:r>
            <a:endParaRPr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Why are some rides cancelled?</a:t>
            </a:r>
            <a:endParaRPr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Which vehicle is most popular?</a:t>
            </a:r>
            <a:endParaRPr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Which payment method is used more?</a:t>
            </a:r>
            <a:endParaRPr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Are </a:t>
            </a: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customers </a:t>
            </a:r>
            <a:r>
              <a:rPr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happy with the service?</a:t>
            </a:r>
            <a:endParaRPr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800">
              <a:solidFill>
                <a:schemeClr val="tx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2599690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What do we want to understand?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283527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tx1"/>
              </a:solidFill>
              <a:uFillTx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83620" y="6492240"/>
            <a:ext cx="246380" cy="22987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1. Business Objective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>
            <a:noAutofit/>
          </a:bodyPr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Booking ID and Booking Date</a:t>
            </a:r>
            <a:endParaRPr sz="16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Booking Status</a:t>
            </a:r>
            <a:endParaRPr sz="16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Vehicle Type</a:t>
            </a:r>
            <a:endParaRPr sz="16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Payment Method</a:t>
            </a:r>
            <a:endParaRPr sz="16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Fare / Revenue</a:t>
            </a:r>
            <a:endParaRPr sz="16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Ride Distance</a:t>
            </a:r>
            <a:endParaRPr sz="16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Customer Rating</a:t>
            </a:r>
            <a:endParaRPr sz="16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Before analysis, the data should be checked for missing and duplicate values.</a:t>
            </a:r>
            <a:endParaRPr lang="en-US" sz="1600">
              <a:solidFill>
                <a:schemeClr val="tx1"/>
              </a:solidFill>
              <a:uFillTx/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3207385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Information used to create the dashboard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381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83620" y="6492240"/>
            <a:ext cx="246380" cy="22987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3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2. Data Used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creenshot 2026-09-01 20410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1610" y="247015"/>
            <a:ext cx="11775440" cy="64395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Content Placeholder 17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These numbers give us a quick idea of the overall business performance.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most important KPI is completion rate because it tells us how many bookings become successful rides.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ea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3051175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Important numbers from the dashboard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822960" y="3154680"/>
            <a:ext cx="10515600" cy="11938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11183620" y="6492240"/>
            <a:ext cx="246380" cy="22987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" name="Title 13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3. Main KPIs</a:t>
            </a:r>
            <a:endParaRPr>
              <a:ea typeface="+mj-ea"/>
              <a:cs typeface="+mn-ea"/>
              <a:sym typeface="+mn-ea"/>
            </a:endParaRPr>
          </a:p>
        </p:txBody>
      </p:sp>
      <p:pic>
        <p:nvPicPr>
          <p:cNvPr id="19" name="Picture 18" descr="Screenshot 2026-09-02 1037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15" y="1634490"/>
            <a:ext cx="11772900" cy="10191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Bookings are fairly stable during the year.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July has the highest bookings: about 12.9K.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February has the lowest bookings: about 11.9K.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means Uber has regular demand throughout the year.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We can further check peak hours and busy days to understand demand better.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solidFill>
                <a:schemeClr val="tx1"/>
              </a:solidFill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1783080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Bookings during 2024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234823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83620" y="6492240"/>
            <a:ext cx="246380" cy="22987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5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4. Booking Trend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62% of bookings were completed.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Some bookings were cancelled by customers.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Some were cancelled by drivers.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Some bookings were incomplete or had no driver available.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main goal should be to reduce cancellations and increase completed rides.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solidFill>
                <a:schemeClr val="tx1"/>
              </a:solidFill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2609850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What happened to the bookings?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234823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83620" y="6492240"/>
            <a:ext cx="246380" cy="22987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6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5. Booking Status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Auto has the highest demand: 37.4K.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Go Mini: 29.8K.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Go Sedan: 27.1K.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Bike: 22.5K.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Premier Sedan: 18.1K.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eBike: 10.6K and Uber XL: 4.4K.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Uber can keep more drivers available for vehicles with higher demand.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ea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2489835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Which vehicles are used more?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33229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 sz="24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83620" y="6492240"/>
            <a:ext cx="246380" cy="22987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7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6. Vehicle Demand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UPI is one of the major payment methods in the dashboard.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Cash, Uber Wallet and Cards are also used.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There is a large 'Null' payment category.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Null means payment information is missing or not properly recorded.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data should be cleaned before making a final payment-related decision.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800">
              <a:solidFill>
                <a:schemeClr val="tx1"/>
              </a:solidFill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2232660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How are customers paying?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234823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83620" y="6492240"/>
            <a:ext cx="246380" cy="22987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8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7. Payment Method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average customer rating is 4.40.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shows that customers are generally satisfied.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But we can check ratings by vehicle, location and time.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can help us find where customers are having problems.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solidFill>
                <a:schemeClr val="tx1"/>
              </a:solidFill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1837055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Are customers happy?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186118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83620" y="6492240"/>
            <a:ext cx="246380" cy="22987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9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8. Customer Satisfaction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>
            <a:normAutofit lnSpcReduction="20000"/>
          </a:bodyPr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Uber has a high number of bookings.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Only 62% of bookings are completed.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Cancellations are an important area to improve.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Auto has the highest demand.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Customer rating is good at 4.40.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Payment data has missing values.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Demand is fairly stable during the year.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ea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1598295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What did we learn?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332295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20120" y="6492240"/>
            <a:ext cx="309880" cy="22987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10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9. Key Findings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Reduce customer and driver cancellations.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Increase drivers in high-demand areas and times.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Focus on high-demand vehicles such as Auto and Go Mini.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Fix missing payment information.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Study low customer ratings and improve service.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Try to increase the 62% completion rate.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800">
              <a:solidFill>
                <a:schemeClr val="tx1"/>
              </a:solidFill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2011680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What can Uber improve?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283527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20120" y="6492240"/>
            <a:ext cx="309880" cy="22987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11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10. Recommendations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>
            <a:noAutofit/>
          </a:bodyPr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Peak-hour analysis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Weekday vs weekend bookings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Location-wise demand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Repeat customers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Driver performance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Cancellation reasons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Revenue by vehicle type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Future demand prediction</a:t>
            </a:r>
            <a:endParaRPr lang="en-US" sz="1800">
              <a:solidFill>
                <a:schemeClr val="tx1"/>
              </a:solidFill>
              <a:uFillTx/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21792" y="932688"/>
            <a:ext cx="2195195" cy="2914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3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What else can we analyze?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822960" y="1417320"/>
            <a:ext cx="10515600" cy="381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000">
                <a:solidFill>
                  <a:srgbClr val="F5F7FA"/>
                </a:solidFill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120120" y="6492240"/>
            <a:ext cx="309880" cy="22987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12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11. Future Scope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Content Placeholder 10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>
              <a:spcAft>
                <a:spcPts val="1400"/>
              </a:spcAft>
              <a:defRPr sz="22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This dashboard makes Uber data easy to understand.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2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It helps us see business performance and customer behavior.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2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biggest opportunities are reducing cancellations, increasing completed rides and improving driver availability.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400"/>
              </a:spcAft>
              <a:defRPr sz="2200">
                <a:solidFill>
                  <a:srgbClr val="F5F7FA"/>
                </a:solidFill>
              </a:defRPr>
            </a:pPr>
            <a:r>
              <a:rPr sz="180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Good data quality is also important for making correct decisions.</a:t>
            </a:r>
            <a:endParaRPr sz="180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spcAft>
                <a:spcPts val="1400"/>
              </a:spcAft>
              <a:buNone/>
              <a:defRPr sz="2200">
                <a:solidFill>
                  <a:srgbClr val="F5F7FA"/>
                </a:solidFill>
              </a:defRPr>
            </a:pPr>
            <a:r>
              <a:rPr sz="3600">
                <a:solidFill>
                  <a:schemeClr val="accent2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 You!</a:t>
            </a:r>
            <a:endParaRPr sz="3600">
              <a:solidFill>
                <a:schemeClr val="accent2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3600">
              <a:solidFill>
                <a:schemeClr val="accent2"/>
              </a:solidFill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822960" y="1554480"/>
            <a:ext cx="10515600" cy="284099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2200">
                <a:solidFill>
                  <a:srgbClr val="F5F7FA"/>
                </a:solidFill>
              </a:defRPr>
            </a:pPr>
            <a:endParaRPr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120120" y="6492240"/>
            <a:ext cx="309880" cy="22987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r">
              <a:defRPr sz="900">
                <a:solidFill>
                  <a:srgbClr val="B9C6D7"/>
                </a:solidFill>
              </a:defRPr>
            </a:pPr>
            <a:r>
              <a:rPr>
                <a:solidFill>
                  <a:schemeClr val="accent1"/>
                </a:solidFill>
              </a:rPr>
              <a:t>13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cs typeface="+mn-ea"/>
                <a:sym typeface="+mn-ea"/>
              </a:rPr>
              <a:t>12. Conclusion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&#10;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输入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05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05"/>
</p:tagLst>
</file>

<file path=ppt/tags/tag92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05"/>
</p:tagLst>
</file>

<file path=ppt/tags/tag9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4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TEMPLATE_CATEGORY" val="custom"/>
  <p:tag name="KSO_WM_TEMPLATE_INDEX" val="20233405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05_1*a*1"/>
  <p:tag name="KSO_WM_TEMPLATE_CATEGORY" val="custom"/>
  <p:tag name="KSO_WM_TEMPLATE_INDEX" val="20233405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SPECIAL_SOURCE" val="bdnull"/>
  <p:tag name="KSO_WM_SLIDE_CONTENT_AREA" val="{&quot;left&quot;:&quot;195.5&quot;,&quot;top&quot;:&quot;83.9&quot;,&quot;width&quot;:&quot;570.55&quot;,&quot;height&quot;:&quot;279.45&quot;}"/>
  <p:tag name="KSO_WM_TEMPLATE_THUMBS_INDEX" val="1、9"/>
  <p:tag name="KSO_WM_SLIDE_ID" val="custom20233405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05"/>
  <p:tag name="KSO_WM_SLIDE_LAYOUT" val="a_b_f"/>
  <p:tag name="KSO_WM_SLIDE_LAYOUT_CNT" val="1_1_1"/>
  <p:tag name="KSO_WM_SLIDE_THEME_ID" val="3302860"/>
  <p:tag name="KSO_WM_SLIDE_THEME_NAME" val="Purple Technology"/>
</p:tagLst>
</file>

<file path=ppt/tags/tag9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9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01.xml><?xml version="1.0" encoding="utf-8"?>
<p:tagLst xmlns:p="http://schemas.openxmlformats.org/presentationml/2006/main">
  <p:tag name="KSO_WM_SLIDE_TYPE" val="text"/>
  <p:tag name="KSO_WM_BEAUTIFY_FLAG" val="#wm#"/>
</p:tagLst>
</file>

<file path=ppt/tags/tag10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0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06.xml><?xml version="1.0" encoding="utf-8"?>
<p:tagLst xmlns:p="http://schemas.openxmlformats.org/presentationml/2006/main">
  <p:tag name="KSO_WM_UNIT_TEXT" val="UBER RIDE ANALY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07.xml><?xml version="1.0" encoding="utf-8"?>
<p:tagLst xmlns:p="http://schemas.openxmlformats.org/presentationml/2006/main">
  <p:tag name="KSO_WM_SLIDE_TYPE" val="text"/>
  <p:tag name="KSO_WM_BEAUTIFY_FLAG" val="#wm#"/>
</p:tagLst>
</file>

<file path=ppt/tags/tag10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1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12.xml><?xml version="1.0" encoding="utf-8"?>
<p:tagLst xmlns:p="http://schemas.openxmlformats.org/presentationml/2006/main">
  <p:tag name="KSO_WM_UNIT_TEXT" val="1. Business Objectiv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13.xml><?xml version="1.0" encoding="utf-8"?>
<p:tagLst xmlns:p="http://schemas.openxmlformats.org/presentationml/2006/main">
  <p:tag name="KSO_WM_SLIDE_TYPE" val="text"/>
  <p:tag name="KSO_WM_BEAUTIFY_FLAG" val="#wm#"/>
</p:tagLst>
</file>

<file path=ppt/tags/tag11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18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119.xml><?xml version="1.0" encoding="utf-8"?>
<p:tagLst xmlns:p="http://schemas.openxmlformats.org/presentationml/2006/main">
  <p:tag name="KSO_WM_UNIT_TEXT" val="2. Data Use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20.xml><?xml version="1.0" encoding="utf-8"?>
<p:tagLst xmlns:p="http://schemas.openxmlformats.org/presentationml/2006/main">
  <p:tag name="KSO_WM_SLIDE_TYPE" val="text"/>
  <p:tag name="KSO_WM_BEAUTIFY_FLAG" val="#wm#"/>
</p:tagLst>
</file>

<file path=ppt/tags/tag12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2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2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25.xml><?xml version="1.0" encoding="utf-8"?>
<p:tagLst xmlns:p="http://schemas.openxmlformats.org/presentationml/2006/main">
  <p:tag name="KSO_WM_UNIT_TEXT" val="3. Main KP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26.xml><?xml version="1.0" encoding="utf-8"?>
<p:tagLst xmlns:p="http://schemas.openxmlformats.org/presentationml/2006/main">
  <p:tag name="KSO_WM_SLIDE_TYPE" val="text"/>
  <p:tag name="KSO_WM_BEAUTIFY_FLAG" val="#wm#"/>
</p:tagLst>
</file>

<file path=ppt/tags/tag12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3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31.xml><?xml version="1.0" encoding="utf-8"?>
<p:tagLst xmlns:p="http://schemas.openxmlformats.org/presentationml/2006/main">
  <p:tag name="KSO_WM_UNIT_TEXT" val="4. Booking Tre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32.xml><?xml version="1.0" encoding="utf-8"?>
<p:tagLst xmlns:p="http://schemas.openxmlformats.org/presentationml/2006/main">
  <p:tag name="KSO_WM_SLIDE_TYPE" val="text"/>
  <p:tag name="KSO_WM_BEAUTIFY_FLAG" val="#wm#"/>
</p:tagLst>
</file>

<file path=ppt/tags/tag13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37.xml><?xml version="1.0" encoding="utf-8"?>
<p:tagLst xmlns:p="http://schemas.openxmlformats.org/presentationml/2006/main">
  <p:tag name="KSO_WM_UNIT_TEXT" val="5. Booking Statu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38.xml><?xml version="1.0" encoding="utf-8"?>
<p:tagLst xmlns:p="http://schemas.openxmlformats.org/presentationml/2006/main">
  <p:tag name="KSO_WM_SLIDE_TYPE" val="text"/>
  <p:tag name="KSO_WM_BEAUTIFY_FLAG" val="#wm#"/>
</p:tagLst>
</file>

<file path=ppt/tags/tag13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43.xml><?xml version="1.0" encoding="utf-8"?>
<p:tagLst xmlns:p="http://schemas.openxmlformats.org/presentationml/2006/main">
  <p:tag name="KSO_WM_UNIT_TEXT" val="6. Vehicle Dema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44.xml><?xml version="1.0" encoding="utf-8"?>
<p:tagLst xmlns:p="http://schemas.openxmlformats.org/presentationml/2006/main">
  <p:tag name="KSO_WM_SLIDE_TYPE" val="text"/>
  <p:tag name="KSO_WM_BEAUTIFY_FLAG" val="#wm#"/>
</p:tagLst>
</file>

<file path=ppt/tags/tag14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49.xml><?xml version="1.0" encoding="utf-8"?>
<p:tagLst xmlns:p="http://schemas.openxmlformats.org/presentationml/2006/main">
  <p:tag name="KSO_WM_UNIT_TEXT" val="7. Payment Metho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50.xml><?xml version="1.0" encoding="utf-8"?>
<p:tagLst xmlns:p="http://schemas.openxmlformats.org/presentationml/2006/main">
  <p:tag name="KSO_WM_SLIDE_TYPE" val="text"/>
  <p:tag name="KSO_WM_BEAUTIFY_FLAG" val="#wm#"/>
</p:tagLst>
</file>

<file path=ppt/tags/tag15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TEXT" val="8. Customer Satisfa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56.xml><?xml version="1.0" encoding="utf-8"?>
<p:tagLst xmlns:p="http://schemas.openxmlformats.org/presentationml/2006/main">
  <p:tag name="KSO_WM_SLIDE_TYPE" val="text"/>
  <p:tag name="KSO_WM_BEAUTIFY_FLAG" val="#wm#"/>
</p:tagLst>
</file>

<file path=ppt/tags/tag15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5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6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TEXT" val="9. Key Finding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62.xml><?xml version="1.0" encoding="utf-8"?>
<p:tagLst xmlns:p="http://schemas.openxmlformats.org/presentationml/2006/main">
  <p:tag name="KSO_WM_SLIDE_TYPE" val="text"/>
  <p:tag name="KSO_WM_BEAUTIFY_FLAG" val="#wm#"/>
</p:tagLst>
</file>

<file path=ppt/tags/tag16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6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66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TEXT" val="10. Recommendation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68.xml><?xml version="1.0" encoding="utf-8"?>
<p:tagLst xmlns:p="http://schemas.openxmlformats.org/presentationml/2006/main">
  <p:tag name="KSO_WM_SLIDE_TYPE" val="text"/>
  <p:tag name="KSO_WM_BEAUTIFY_FLAG" val="#wm#"/>
</p:tagLst>
</file>

<file path=ppt/tags/tag16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72.xml><?xml version="1.0" encoding="utf-8"?>
<p:tagLst xmlns:p="http://schemas.openxmlformats.org/presentationml/2006/main">
  <p:tag name="KSO_WM_UNIT_TEXT" val="11. Future Scop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</p:tagLst>
</file>

<file path=ppt/tags/tag173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15">
      <a:dk1>
        <a:srgbClr val="000000"/>
      </a:dk1>
      <a:lt1>
        <a:srgbClr val="FFFFFF"/>
      </a:lt1>
      <a:dk2>
        <a:srgbClr val="001A54"/>
      </a:dk2>
      <a:lt2>
        <a:srgbClr val="D4E1FE"/>
      </a:lt2>
      <a:accent1>
        <a:srgbClr val="6292FB"/>
      </a:accent1>
      <a:accent2>
        <a:srgbClr val="F43AA9"/>
      </a:accent2>
      <a:accent3>
        <a:srgbClr val="5364E3"/>
      </a:accent3>
      <a:accent4>
        <a:srgbClr val="6243D1"/>
      </a:accent4>
      <a:accent5>
        <a:srgbClr val="9340C3"/>
      </a:accent5>
      <a:accent6>
        <a:srgbClr val="C33DB6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3493</Words>
  <Application>WPS Presentation</Application>
  <PresentationFormat>On-screen Show (4:3)</PresentationFormat>
  <Paragraphs>173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Arial</vt:lpstr>
      <vt:lpstr>Wingdings</vt:lpstr>
      <vt:lpstr>Imprint MT Shadow</vt:lpstr>
      <vt:lpstr>Calibri</vt:lpstr>
      <vt:lpstr>Times New Roman</vt:lpstr>
      <vt:lpstr>Lato</vt:lpstr>
      <vt:lpstr>Segoe Print</vt:lpstr>
      <vt:lpstr>Microsoft YaHei</vt:lpstr>
      <vt:lpstr>Arial Unicode MS</vt:lpstr>
      <vt:lpstr>Manrope ExtraBold</vt:lpstr>
      <vt:lpstr>Office Theme</vt:lpstr>
      <vt:lpstr>2_Office Theme</vt:lpstr>
      <vt:lpstr>By Aarti Dhage</vt:lpstr>
      <vt:lpstr>UBER RIDE ANALYSIS</vt:lpstr>
      <vt:lpstr>1. Business Objective</vt:lpstr>
      <vt:lpstr>2. Data Used</vt:lpstr>
      <vt:lpstr>PowerPoint 演示文稿</vt:lpstr>
      <vt:lpstr>3. Main KPIs</vt:lpstr>
      <vt:lpstr>4. Booking Trend</vt:lpstr>
      <vt:lpstr>5. Booking Status</vt:lpstr>
      <vt:lpstr>6. Vehicle Demand</vt:lpstr>
      <vt:lpstr>7. Payment Method</vt:lpstr>
      <vt:lpstr>8. Customer Satisfaction</vt:lpstr>
      <vt:lpstr>9. Key Findings</vt:lpstr>
      <vt:lpstr>10. Recommendations</vt:lpstr>
      <vt:lpstr>11. Future Scope</vt:lpstr>
      <vt:lpstr>12.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aarti dhage</cp:lastModifiedBy>
  <cp:revision>6</cp:revision>
  <dcterms:created xsi:type="dcterms:W3CDTF">2013-01-27T09:14:00Z</dcterms:created>
  <dcterms:modified xsi:type="dcterms:W3CDTF">2026-09-07T05:18:29Z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B4394394552148BB8EA4401531DFB3BB_12</vt:lpwstr>
  </property>
</Properties>
</file>